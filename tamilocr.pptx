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ading Now 71-78" charset="1" panose="00000000000000000000"/>
      <p:regular r:id="rId13"/>
    </p:embeddedFont>
    <p:embeddedFont>
      <p:font typeface="Roboto" charset="1" panose="02000000000000000000"/>
      <p:regular r:id="rId14"/>
    </p:embeddedFont>
    <p:embeddedFont>
      <p:font typeface="Roboto Bold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06470" y="1097629"/>
            <a:ext cx="8970199" cy="2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8"/>
              </a:lnSpc>
            </a:pPr>
            <a:r>
              <a:rPr lang="en-US" sz="13615">
                <a:solidFill>
                  <a:srgbClr val="ECC18D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TAMIL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06470" y="3150085"/>
            <a:ext cx="13505863" cy="199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3"/>
              </a:lnSpc>
            </a:pPr>
            <a:r>
              <a:rPr lang="en-US" sz="6127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Optical Character Recognition</a:t>
            </a:r>
          </a:p>
          <a:p>
            <a:pPr algn="l">
              <a:lnSpc>
                <a:spcPts val="7353"/>
              </a:lnSpc>
            </a:pPr>
            <a:r>
              <a:rPr lang="en-US" sz="6127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Through Deep Learning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700" y="1070952"/>
            <a:ext cx="16230600" cy="0"/>
          </a:xfrm>
          <a:prstGeom prst="line">
            <a:avLst/>
          </a:prstGeom>
          <a:ln cap="flat" w="38100">
            <a:solidFill>
              <a:srgbClr val="ECC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7259300" y="1055047"/>
            <a:ext cx="0" cy="8184203"/>
          </a:xfrm>
          <a:prstGeom prst="line">
            <a:avLst/>
          </a:prstGeom>
          <a:ln cap="flat" w="38100">
            <a:solidFill>
              <a:srgbClr val="ECC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5906150" y="7637184"/>
            <a:ext cx="1115223" cy="1381470"/>
          </a:xfrm>
          <a:custGeom>
            <a:avLst/>
            <a:gdLst/>
            <a:ahLst/>
            <a:cxnLst/>
            <a:rect r="r" b="b" t="t" l="l"/>
            <a:pathLst>
              <a:path h="1381470" w="1115223">
                <a:moveTo>
                  <a:pt x="0" y="1381470"/>
                </a:moveTo>
                <a:lnTo>
                  <a:pt x="1115224" y="1381470"/>
                </a:lnTo>
                <a:lnTo>
                  <a:pt x="1115224" y="0"/>
                </a:lnTo>
                <a:lnTo>
                  <a:pt x="0" y="0"/>
                </a:lnTo>
                <a:lnTo>
                  <a:pt x="0" y="13814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354692" y="1294248"/>
            <a:ext cx="944837" cy="1170406"/>
          </a:xfrm>
          <a:custGeom>
            <a:avLst/>
            <a:gdLst/>
            <a:ahLst/>
            <a:cxnLst/>
            <a:rect r="r" b="b" t="t" l="l"/>
            <a:pathLst>
              <a:path h="1170406" w="944837">
                <a:moveTo>
                  <a:pt x="944836" y="0"/>
                </a:moveTo>
                <a:lnTo>
                  <a:pt x="0" y="0"/>
                </a:lnTo>
                <a:lnTo>
                  <a:pt x="0" y="1170406"/>
                </a:lnTo>
                <a:lnTo>
                  <a:pt x="944836" y="1170406"/>
                </a:lnTo>
                <a:lnTo>
                  <a:pt x="9448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96110" y="7387434"/>
            <a:ext cx="8326156" cy="144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5">
                <a:solidFill>
                  <a:srgbClr val="BEBEBE"/>
                </a:solidFill>
                <a:latin typeface="Roboto"/>
                <a:ea typeface="Roboto"/>
                <a:cs typeface="Roboto"/>
                <a:sym typeface="Roboto"/>
              </a:rPr>
              <a:t>K.S.Shree Nidhi - 23MIA1080</a:t>
            </a:r>
          </a:p>
          <a:p>
            <a:pPr algn="l">
              <a:lnSpc>
                <a:spcPts val="3830"/>
              </a:lnSpc>
            </a:pPr>
            <a:r>
              <a:rPr lang="en-US" sz="2735">
                <a:solidFill>
                  <a:srgbClr val="BEBEBE"/>
                </a:solidFill>
                <a:latin typeface="Roboto"/>
                <a:ea typeface="Roboto"/>
                <a:cs typeface="Roboto"/>
                <a:sym typeface="Roboto"/>
              </a:rPr>
              <a:t>Bodhana .S - 23MIA1030</a:t>
            </a:r>
          </a:p>
          <a:p>
            <a:pPr algn="l">
              <a:lnSpc>
                <a:spcPts val="3830"/>
              </a:lnSpc>
              <a:spcBef>
                <a:spcPct val="0"/>
              </a:spcBef>
            </a:pPr>
            <a:r>
              <a:rPr lang="en-US" sz="2735">
                <a:solidFill>
                  <a:srgbClr val="BEBEBE"/>
                </a:solidFill>
                <a:latin typeface="Roboto"/>
                <a:ea typeface="Roboto"/>
                <a:cs typeface="Roboto"/>
                <a:sym typeface="Roboto"/>
              </a:rPr>
              <a:t>Shakthi Surya - 23MIA1158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47750" y="9258300"/>
            <a:ext cx="16230600" cy="0"/>
          </a:xfrm>
          <a:prstGeom prst="line">
            <a:avLst/>
          </a:prstGeom>
          <a:ln cap="flat" w="38100">
            <a:solidFill>
              <a:srgbClr val="ECC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28700" y="1051398"/>
            <a:ext cx="0" cy="8184203"/>
          </a:xfrm>
          <a:prstGeom prst="line">
            <a:avLst/>
          </a:prstGeom>
          <a:ln cap="flat" w="38100">
            <a:solidFill>
              <a:srgbClr val="ECC18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750" y="1070952"/>
            <a:ext cx="0" cy="8168298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47750" y="9239250"/>
            <a:ext cx="16211550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028700" y="1070952"/>
            <a:ext cx="16230600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7259300" y="1055047"/>
            <a:ext cx="0" cy="8184203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812681" y="5831106"/>
            <a:ext cx="2527508" cy="3089014"/>
            <a:chOff x="0" y="0"/>
            <a:chExt cx="1140442" cy="1393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0442" cy="1393800"/>
            </a:xfrm>
            <a:custGeom>
              <a:avLst/>
              <a:gdLst/>
              <a:ahLst/>
              <a:cxnLst/>
              <a:rect r="r" b="b" t="t" l="l"/>
              <a:pathLst>
                <a:path h="1393800" w="1140442">
                  <a:moveTo>
                    <a:pt x="70450" y="0"/>
                  </a:moveTo>
                  <a:lnTo>
                    <a:pt x="1069991" y="0"/>
                  </a:lnTo>
                  <a:cubicBezTo>
                    <a:pt x="1088676" y="0"/>
                    <a:pt x="1106595" y="7422"/>
                    <a:pt x="1119807" y="20634"/>
                  </a:cubicBezTo>
                  <a:cubicBezTo>
                    <a:pt x="1133019" y="33846"/>
                    <a:pt x="1140442" y="51766"/>
                    <a:pt x="1140442" y="70450"/>
                  </a:cubicBezTo>
                  <a:lnTo>
                    <a:pt x="1140442" y="1323349"/>
                  </a:lnTo>
                  <a:cubicBezTo>
                    <a:pt x="1140442" y="1362258"/>
                    <a:pt x="1108900" y="1393800"/>
                    <a:pt x="1069991" y="1393800"/>
                  </a:cubicBezTo>
                  <a:lnTo>
                    <a:pt x="70450" y="1393800"/>
                  </a:lnTo>
                  <a:cubicBezTo>
                    <a:pt x="31542" y="1393800"/>
                    <a:pt x="0" y="1362258"/>
                    <a:pt x="0" y="1323349"/>
                  </a:cubicBezTo>
                  <a:lnTo>
                    <a:pt x="0" y="70450"/>
                  </a:lnTo>
                  <a:cubicBezTo>
                    <a:pt x="0" y="31542"/>
                    <a:pt x="31542" y="0"/>
                    <a:pt x="7045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92845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71493" y="5831106"/>
            <a:ext cx="4941138" cy="3089014"/>
            <a:chOff x="0" y="0"/>
            <a:chExt cx="2229500" cy="1393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9500" cy="1393800"/>
            </a:xfrm>
            <a:custGeom>
              <a:avLst/>
              <a:gdLst/>
              <a:ahLst/>
              <a:cxnLst/>
              <a:rect r="r" b="b" t="t" l="l"/>
              <a:pathLst>
                <a:path h="1393800" w="2229500">
                  <a:moveTo>
                    <a:pt x="36037" y="0"/>
                  </a:moveTo>
                  <a:lnTo>
                    <a:pt x="2193463" y="0"/>
                  </a:lnTo>
                  <a:cubicBezTo>
                    <a:pt x="2203021" y="0"/>
                    <a:pt x="2212187" y="3797"/>
                    <a:pt x="2218945" y="10555"/>
                  </a:cubicBezTo>
                  <a:cubicBezTo>
                    <a:pt x="2225704" y="17313"/>
                    <a:pt x="2229500" y="26479"/>
                    <a:pt x="2229500" y="36037"/>
                  </a:cubicBezTo>
                  <a:lnTo>
                    <a:pt x="2229500" y="1357763"/>
                  </a:lnTo>
                  <a:cubicBezTo>
                    <a:pt x="2229500" y="1367320"/>
                    <a:pt x="2225704" y="1376486"/>
                    <a:pt x="2218945" y="1383245"/>
                  </a:cubicBezTo>
                  <a:cubicBezTo>
                    <a:pt x="2212187" y="1390003"/>
                    <a:pt x="2203021" y="1393800"/>
                    <a:pt x="2193463" y="1393800"/>
                  </a:cubicBezTo>
                  <a:lnTo>
                    <a:pt x="36037" y="1393800"/>
                  </a:lnTo>
                  <a:cubicBezTo>
                    <a:pt x="26479" y="1393800"/>
                    <a:pt x="17313" y="1390003"/>
                    <a:pt x="10555" y="1383245"/>
                  </a:cubicBezTo>
                  <a:cubicBezTo>
                    <a:pt x="3797" y="1376486"/>
                    <a:pt x="0" y="1367320"/>
                    <a:pt x="0" y="1357763"/>
                  </a:cubicBezTo>
                  <a:lnTo>
                    <a:pt x="0" y="36037"/>
                  </a:lnTo>
                  <a:cubicBezTo>
                    <a:pt x="0" y="26479"/>
                    <a:pt x="3797" y="17313"/>
                    <a:pt x="10555" y="10555"/>
                  </a:cubicBezTo>
                  <a:cubicBezTo>
                    <a:pt x="17313" y="3797"/>
                    <a:pt x="26479" y="0"/>
                    <a:pt x="3603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119" r="0" b="-16119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true" rot="0">
            <a:off x="15906150" y="7637184"/>
            <a:ext cx="1115223" cy="1381470"/>
          </a:xfrm>
          <a:custGeom>
            <a:avLst/>
            <a:gdLst/>
            <a:ahLst/>
            <a:cxnLst/>
            <a:rect r="r" b="b" t="t" l="l"/>
            <a:pathLst>
              <a:path h="1381470" w="1115223">
                <a:moveTo>
                  <a:pt x="0" y="1381470"/>
                </a:moveTo>
                <a:lnTo>
                  <a:pt x="1115224" y="1381470"/>
                </a:lnTo>
                <a:lnTo>
                  <a:pt x="1115224" y="0"/>
                </a:lnTo>
                <a:lnTo>
                  <a:pt x="0" y="0"/>
                </a:lnTo>
                <a:lnTo>
                  <a:pt x="0" y="138147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93693" y="1465189"/>
            <a:ext cx="7005458" cy="436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274" indent="-268637" lvl="1">
              <a:lnSpc>
                <a:spcPts val="3483"/>
              </a:lnSpc>
              <a:buFont typeface="Arial"/>
              <a:buChar char="•"/>
            </a:pPr>
            <a:r>
              <a:rPr lang="en-US" sz="2488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Tamil handwriting</a:t>
            </a:r>
            <a:r>
              <a:rPr lang="en-US" sz="2488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recognition is challenging due to the script’s complex curves, loops, and stylistic variations. Existing OCR systems often misinterpret handwritten text, leading to accuracy issues. The problem requires a robust deep learning model capable of efficiently recognizing diverse handwritten Tamil characters and improving overall text conversion accuracy.</a:t>
            </a:r>
          </a:p>
          <a:p>
            <a:pPr algn="l">
              <a:lnSpc>
                <a:spcPts val="348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67783" y="970782"/>
            <a:ext cx="11827882" cy="292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0"/>
              </a:lnSpc>
            </a:pPr>
            <a:r>
              <a:rPr lang="en-US" sz="8925">
                <a:solidFill>
                  <a:srgbClr val="372A28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750" y="1070952"/>
            <a:ext cx="0" cy="8168298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47750" y="9239250"/>
            <a:ext cx="16211550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028700" y="1070952"/>
            <a:ext cx="16230600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7259300" y="1055047"/>
            <a:ext cx="0" cy="8184203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513267" y="1627692"/>
            <a:ext cx="6377836" cy="3515808"/>
            <a:chOff x="0" y="0"/>
            <a:chExt cx="2877756" cy="15863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77756" cy="1586374"/>
            </a:xfrm>
            <a:custGeom>
              <a:avLst/>
              <a:gdLst/>
              <a:ahLst/>
              <a:cxnLst/>
              <a:rect r="r" b="b" t="t" l="l"/>
              <a:pathLst>
                <a:path h="1586374" w="2877756">
                  <a:moveTo>
                    <a:pt x="27919" y="0"/>
                  </a:moveTo>
                  <a:lnTo>
                    <a:pt x="2849836" y="0"/>
                  </a:lnTo>
                  <a:cubicBezTo>
                    <a:pt x="2857241" y="0"/>
                    <a:pt x="2864342" y="2941"/>
                    <a:pt x="2869578" y="8177"/>
                  </a:cubicBezTo>
                  <a:cubicBezTo>
                    <a:pt x="2874814" y="13413"/>
                    <a:pt x="2877756" y="20515"/>
                    <a:pt x="2877756" y="27919"/>
                  </a:cubicBezTo>
                  <a:lnTo>
                    <a:pt x="2877756" y="1558455"/>
                  </a:lnTo>
                  <a:cubicBezTo>
                    <a:pt x="2877756" y="1573874"/>
                    <a:pt x="2865256" y="1586374"/>
                    <a:pt x="2849836" y="1586374"/>
                  </a:cubicBezTo>
                  <a:lnTo>
                    <a:pt x="27919" y="1586374"/>
                  </a:lnTo>
                  <a:cubicBezTo>
                    <a:pt x="12500" y="1586374"/>
                    <a:pt x="0" y="1573874"/>
                    <a:pt x="0" y="1558455"/>
                  </a:cubicBezTo>
                  <a:lnTo>
                    <a:pt x="0" y="27919"/>
                  </a:lnTo>
                  <a:cubicBezTo>
                    <a:pt x="0" y="12500"/>
                    <a:pt x="12500" y="0"/>
                    <a:pt x="27919" y="0"/>
                  </a:cubicBezTo>
                  <a:close/>
                </a:path>
              </a:pathLst>
            </a:custGeom>
            <a:blipFill>
              <a:blip r:embed="rId2"/>
              <a:stretch>
                <a:fillRect l="-11080" t="0" r="-11080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15983388" y="7641473"/>
            <a:ext cx="1115223" cy="1381470"/>
          </a:xfrm>
          <a:custGeom>
            <a:avLst/>
            <a:gdLst/>
            <a:ahLst/>
            <a:cxnLst/>
            <a:rect r="r" b="b" t="t" l="l"/>
            <a:pathLst>
              <a:path h="1381470" w="1115223">
                <a:moveTo>
                  <a:pt x="0" y="1381471"/>
                </a:moveTo>
                <a:lnTo>
                  <a:pt x="1115223" y="1381471"/>
                </a:lnTo>
                <a:lnTo>
                  <a:pt x="1115223" y="0"/>
                </a:lnTo>
                <a:lnTo>
                  <a:pt x="0" y="0"/>
                </a:lnTo>
                <a:lnTo>
                  <a:pt x="0" y="138147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82159" y="3295310"/>
            <a:ext cx="8931109" cy="599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547" indent="-260273" lvl="1">
              <a:lnSpc>
                <a:spcPts val="3375"/>
              </a:lnSpc>
              <a:buFont typeface="Arial"/>
              <a:buChar char="•"/>
            </a:pPr>
            <a:r>
              <a:rPr lang="en-US" sz="2411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The paper introd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uc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es t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 Re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 two-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tage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bottleneck architectu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 (RTSBA) t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significantly i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prove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Optical Character Rec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gnition (OCR) acc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ur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acy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for handwritten Ta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il text from a digital pad.</a:t>
            </a:r>
          </a:p>
          <a:p>
            <a:pPr algn="l" marL="520547" indent="-260273" lvl="1">
              <a:lnSpc>
                <a:spcPts val="3375"/>
              </a:lnSpc>
              <a:buFont typeface="Arial"/>
              <a:buChar char="•"/>
            </a:pP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RTSBA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use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 two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tages and inc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orates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nlocal and Attention-Gate blocks to 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ffe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ct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vely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filt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er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noise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focu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on relevant featur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ad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ress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ng th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ha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lenge of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co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mplex Tamil sc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ri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pt (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ends, c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rves).</a:t>
            </a:r>
          </a:p>
          <a:p>
            <a:pPr algn="l" marL="520547" indent="-260273" lvl="1">
              <a:lnSpc>
                <a:spcPts val="3375"/>
              </a:lnSpc>
              <a:buFont typeface="Arial"/>
              <a:buChar char="•"/>
            </a:pP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Tes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 on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t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datasets,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RTSBA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odel achieved a text prediction acc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racy of 98.7% on the DWP-H data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t. It o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tperfor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ed exi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ting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method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like LSTM, Inception-v3, and CNNs, e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sta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blish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 RTSBA as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h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gh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y effect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ve solu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ion for accurate Tamil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writing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r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ec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og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nition</a:t>
            </a:r>
            <a:r>
              <a:rPr lang="en-US" sz="24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76321" y="963639"/>
            <a:ext cx="8865472" cy="221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8"/>
              </a:lnSpc>
            </a:pPr>
            <a:r>
              <a:rPr lang="en-US" sz="6806">
                <a:solidFill>
                  <a:srgbClr val="372A28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Base Paper Summary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9625" y="528027"/>
            <a:ext cx="0" cy="9216419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09625" y="9744446"/>
            <a:ext cx="16916400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809625" y="528027"/>
            <a:ext cx="16954906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7726025" y="528027"/>
            <a:ext cx="0" cy="9216419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6330104" y="8190494"/>
            <a:ext cx="1115223" cy="1381470"/>
          </a:xfrm>
          <a:custGeom>
            <a:avLst/>
            <a:gdLst/>
            <a:ahLst/>
            <a:cxnLst/>
            <a:rect r="r" b="b" t="t" l="l"/>
            <a:pathLst>
              <a:path h="1381470" w="1115223">
                <a:moveTo>
                  <a:pt x="0" y="1381471"/>
                </a:moveTo>
                <a:lnTo>
                  <a:pt x="1115223" y="1381471"/>
                </a:lnTo>
                <a:lnTo>
                  <a:pt x="1115223" y="0"/>
                </a:lnTo>
                <a:lnTo>
                  <a:pt x="0" y="0"/>
                </a:lnTo>
                <a:lnTo>
                  <a:pt x="0" y="138147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09625" y="528027"/>
            <a:ext cx="6921286" cy="4713322"/>
            <a:chOff x="0" y="0"/>
            <a:chExt cx="1944362" cy="1324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4362" cy="1324090"/>
            </a:xfrm>
            <a:custGeom>
              <a:avLst/>
              <a:gdLst/>
              <a:ahLst/>
              <a:cxnLst/>
              <a:rect r="r" b="b" t="t" l="l"/>
              <a:pathLst>
                <a:path h="1324090" w="1944362">
                  <a:moveTo>
                    <a:pt x="25727" y="0"/>
                  </a:moveTo>
                  <a:lnTo>
                    <a:pt x="1918635" y="0"/>
                  </a:lnTo>
                  <a:cubicBezTo>
                    <a:pt x="1925458" y="0"/>
                    <a:pt x="1932002" y="2711"/>
                    <a:pt x="1936827" y="7535"/>
                  </a:cubicBezTo>
                  <a:cubicBezTo>
                    <a:pt x="1941652" y="12360"/>
                    <a:pt x="1944362" y="18904"/>
                    <a:pt x="1944362" y="25727"/>
                  </a:cubicBezTo>
                  <a:lnTo>
                    <a:pt x="1944362" y="1298363"/>
                  </a:lnTo>
                  <a:cubicBezTo>
                    <a:pt x="1944362" y="1305186"/>
                    <a:pt x="1941652" y="1311730"/>
                    <a:pt x="1936827" y="1316555"/>
                  </a:cubicBezTo>
                  <a:cubicBezTo>
                    <a:pt x="1932002" y="1321379"/>
                    <a:pt x="1925458" y="1324090"/>
                    <a:pt x="1918635" y="1324090"/>
                  </a:cubicBezTo>
                  <a:lnTo>
                    <a:pt x="25727" y="1324090"/>
                  </a:lnTo>
                  <a:cubicBezTo>
                    <a:pt x="18904" y="1324090"/>
                    <a:pt x="12360" y="1321379"/>
                    <a:pt x="7535" y="1316555"/>
                  </a:cubicBezTo>
                  <a:cubicBezTo>
                    <a:pt x="2711" y="1311730"/>
                    <a:pt x="0" y="1305186"/>
                    <a:pt x="0" y="1298363"/>
                  </a:cubicBezTo>
                  <a:lnTo>
                    <a:pt x="0" y="25727"/>
                  </a:lnTo>
                  <a:cubicBezTo>
                    <a:pt x="0" y="18904"/>
                    <a:pt x="2711" y="12360"/>
                    <a:pt x="7535" y="7535"/>
                  </a:cubicBezTo>
                  <a:cubicBezTo>
                    <a:pt x="12360" y="2711"/>
                    <a:pt x="18904" y="0"/>
                    <a:pt x="25727" y="0"/>
                  </a:cubicBezTo>
                  <a:close/>
                </a:path>
              </a:pathLst>
            </a:custGeom>
            <a:blipFill>
              <a:blip r:embed="rId4"/>
              <a:stretch>
                <a:fillRect l="-11488" t="0" r="-11488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47750" y="5391595"/>
            <a:ext cx="6329724" cy="4352852"/>
            <a:chOff x="0" y="0"/>
            <a:chExt cx="1944362" cy="13371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44362" cy="1337107"/>
            </a:xfrm>
            <a:custGeom>
              <a:avLst/>
              <a:gdLst/>
              <a:ahLst/>
              <a:cxnLst/>
              <a:rect r="r" b="b" t="t" l="l"/>
              <a:pathLst>
                <a:path h="1337107" w="1944362">
                  <a:moveTo>
                    <a:pt x="28131" y="0"/>
                  </a:moveTo>
                  <a:lnTo>
                    <a:pt x="1916231" y="0"/>
                  </a:lnTo>
                  <a:cubicBezTo>
                    <a:pt x="1931768" y="0"/>
                    <a:pt x="1944362" y="12595"/>
                    <a:pt x="1944362" y="28131"/>
                  </a:cubicBezTo>
                  <a:lnTo>
                    <a:pt x="1944362" y="1308976"/>
                  </a:lnTo>
                  <a:cubicBezTo>
                    <a:pt x="1944362" y="1316437"/>
                    <a:pt x="1941399" y="1323592"/>
                    <a:pt x="1936123" y="1328868"/>
                  </a:cubicBezTo>
                  <a:cubicBezTo>
                    <a:pt x="1930847" y="1334143"/>
                    <a:pt x="1923692" y="1337107"/>
                    <a:pt x="1916231" y="1337107"/>
                  </a:cubicBezTo>
                  <a:lnTo>
                    <a:pt x="28131" y="1337107"/>
                  </a:lnTo>
                  <a:cubicBezTo>
                    <a:pt x="20671" y="1337107"/>
                    <a:pt x="13515" y="1334143"/>
                    <a:pt x="8240" y="1328868"/>
                  </a:cubicBezTo>
                  <a:cubicBezTo>
                    <a:pt x="2964" y="1323592"/>
                    <a:pt x="0" y="1316437"/>
                    <a:pt x="0" y="1308976"/>
                  </a:cubicBezTo>
                  <a:lnTo>
                    <a:pt x="0" y="28131"/>
                  </a:lnTo>
                  <a:cubicBezTo>
                    <a:pt x="0" y="20671"/>
                    <a:pt x="2964" y="13515"/>
                    <a:pt x="8240" y="8240"/>
                  </a:cubicBezTo>
                  <a:cubicBezTo>
                    <a:pt x="13515" y="2964"/>
                    <a:pt x="20671" y="0"/>
                    <a:pt x="28131" y="0"/>
                  </a:cubicBezTo>
                  <a:close/>
                </a:path>
              </a:pathLst>
            </a:custGeom>
            <a:blipFill>
              <a:blip r:embed="rId5"/>
              <a:stretch>
                <a:fillRect l="-4362" t="0" r="-4362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083645" y="1236560"/>
            <a:ext cx="8431776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>
                <a:solidFill>
                  <a:srgbClr val="372A28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Methodology Flow Diagram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96549" y="2944047"/>
            <a:ext cx="9291166" cy="5490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</a:p>
          <a:p>
            <a:pPr algn="l" marL="448876" indent="-22443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Problem: Achieving high-accuracy OCR for handwritten Tamil text from digital pads is</a:t>
            </a:r>
            <a:r>
              <a:rPr lang="en-US" sz="2079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challenging due to the script's complex bends, curves, and rings.</a:t>
            </a:r>
          </a:p>
          <a:p>
            <a:pPr algn="l" marL="448876" indent="-22443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079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Solution: The paper proposes the ResNet two-stage bottleneck architecture (RTSBA), a modified deep learning model.</a:t>
            </a:r>
          </a:p>
          <a:p>
            <a:pPr algn="l" marL="448876" indent="-22443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079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Architecture: RTSBA uses a two-stage network with Nonlocal (NL) and Attention-Gate (AG) blocks to filter noise and focus on relevant character features.</a:t>
            </a:r>
          </a:p>
          <a:p>
            <a:pPr algn="l" marL="448876" indent="-22443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079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Results: RTSBA achieved a high text prediction accuracy of 98.7% on the DWP-H dataset.</a:t>
            </a:r>
          </a:p>
          <a:p>
            <a:pPr algn="l" marL="448876" indent="-224438" lvl="1">
              <a:lnSpc>
                <a:spcPts val="2910"/>
              </a:lnSpc>
              <a:spcBef>
                <a:spcPct val="0"/>
              </a:spcBef>
              <a:buFont typeface="Arial"/>
              <a:buChar char="•"/>
            </a:pPr>
            <a:r>
              <a:rPr lang="en-US" sz="2079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Significance: The mode</a:t>
            </a:r>
            <a:r>
              <a:rPr lang="en-US" sz="2079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 ou</a:t>
            </a:r>
            <a:r>
              <a:rPr lang="en-US" sz="2079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tperformed conventional methods (like LSTM, CNN, Inception-v3), offering a superior solution for Tamil and potentially other complex Indian language scripts.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750" y="1070952"/>
            <a:ext cx="0" cy="8168298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47750" y="9239250"/>
            <a:ext cx="16211550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028700" y="1070952"/>
            <a:ext cx="16230600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7259300" y="1055047"/>
            <a:ext cx="0" cy="8184203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5906150" y="7637184"/>
            <a:ext cx="1115223" cy="1381470"/>
          </a:xfrm>
          <a:custGeom>
            <a:avLst/>
            <a:gdLst/>
            <a:ahLst/>
            <a:cxnLst/>
            <a:rect r="r" b="b" t="t" l="l"/>
            <a:pathLst>
              <a:path h="1381470" w="1115223">
                <a:moveTo>
                  <a:pt x="0" y="1381470"/>
                </a:moveTo>
                <a:lnTo>
                  <a:pt x="1115224" y="1381470"/>
                </a:lnTo>
                <a:lnTo>
                  <a:pt x="1115224" y="0"/>
                </a:lnTo>
                <a:lnTo>
                  <a:pt x="0" y="0"/>
                </a:lnTo>
                <a:lnTo>
                  <a:pt x="0" y="13814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47750" y="5838223"/>
            <a:ext cx="16211550" cy="3420077"/>
            <a:chOff x="0" y="0"/>
            <a:chExt cx="6264569" cy="1321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64569" cy="1321608"/>
            </a:xfrm>
            <a:custGeom>
              <a:avLst/>
              <a:gdLst/>
              <a:ahLst/>
              <a:cxnLst/>
              <a:rect r="r" b="b" t="t" l="l"/>
              <a:pathLst>
                <a:path h="1321608" w="6264569">
                  <a:moveTo>
                    <a:pt x="0" y="0"/>
                  </a:moveTo>
                  <a:lnTo>
                    <a:pt x="6264569" y="0"/>
                  </a:lnTo>
                  <a:lnTo>
                    <a:pt x="6264569" y="1321608"/>
                  </a:lnTo>
                  <a:lnTo>
                    <a:pt x="0" y="1321608"/>
                  </a:lnTo>
                  <a:close/>
                </a:path>
              </a:pathLst>
            </a:custGeom>
            <a:blipFill>
              <a:blip r:embed="rId4"/>
              <a:stretch>
                <a:fillRect l="-9636" t="0" r="-963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20529" y="1070952"/>
            <a:ext cx="3352158" cy="4145385"/>
            <a:chOff x="0" y="0"/>
            <a:chExt cx="1994159" cy="2466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4159" cy="2466040"/>
            </a:xfrm>
            <a:custGeom>
              <a:avLst/>
              <a:gdLst/>
              <a:ahLst/>
              <a:cxnLst/>
              <a:rect r="r" b="b" t="t" l="l"/>
              <a:pathLst>
                <a:path h="2466040" w="1994159">
                  <a:moveTo>
                    <a:pt x="53119" y="0"/>
                  </a:moveTo>
                  <a:lnTo>
                    <a:pt x="1941040" y="0"/>
                  </a:lnTo>
                  <a:cubicBezTo>
                    <a:pt x="1970377" y="0"/>
                    <a:pt x="1994159" y="23782"/>
                    <a:pt x="1994159" y="53119"/>
                  </a:cubicBezTo>
                  <a:lnTo>
                    <a:pt x="1994159" y="2412921"/>
                  </a:lnTo>
                  <a:cubicBezTo>
                    <a:pt x="1994159" y="2442258"/>
                    <a:pt x="1970377" y="2466040"/>
                    <a:pt x="1941040" y="2466040"/>
                  </a:cubicBezTo>
                  <a:lnTo>
                    <a:pt x="53119" y="2466040"/>
                  </a:lnTo>
                  <a:cubicBezTo>
                    <a:pt x="23782" y="2466040"/>
                    <a:pt x="0" y="2442258"/>
                    <a:pt x="0" y="2412921"/>
                  </a:cubicBezTo>
                  <a:lnTo>
                    <a:pt x="0" y="53119"/>
                  </a:lnTo>
                  <a:cubicBezTo>
                    <a:pt x="0" y="23782"/>
                    <a:pt x="23782" y="0"/>
                    <a:pt x="53119" y="0"/>
                  </a:cubicBezTo>
                  <a:close/>
                </a:path>
              </a:pathLst>
            </a:custGeom>
            <a:blipFill>
              <a:blip r:embed="rId5"/>
              <a:stretch>
                <a:fillRect l="-492" t="0" r="-49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572687" y="1755062"/>
            <a:ext cx="13281031" cy="371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6"/>
              </a:lnSpc>
              <a:spcBef>
                <a:spcPct val="0"/>
              </a:spcBef>
            </a:pPr>
          </a:p>
          <a:p>
            <a:pPr algn="l" marL="455975" indent="-227987" lvl="1">
              <a:lnSpc>
                <a:spcPts val="2956"/>
              </a:lnSpc>
              <a:spcBef>
                <a:spcPct val="0"/>
              </a:spcBef>
              <a:buFont typeface="Arial"/>
              <a:buChar char="•"/>
            </a:pP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Accuracy: The propos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ed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RTSBA model achiev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ed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a high text prediction acc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ra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y of 98.7% on the DWP-H d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at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aset.</a:t>
            </a:r>
          </a:p>
          <a:p>
            <a:pPr algn="l" marL="455975" indent="-227987" lvl="1">
              <a:lnSpc>
                <a:spcPts val="2956"/>
              </a:lnSpc>
              <a:spcBef>
                <a:spcPct val="0"/>
              </a:spcBef>
              <a:buFont typeface="Arial"/>
              <a:buChar char="•"/>
            </a:pP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Super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io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rity: RTSBA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out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med existing methods like MMU-SNet, CNN, AlexNet,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nd VGG19Net in all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etric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(Accuracy, Pr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, 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call, F1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Sc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e).</a:t>
            </a:r>
          </a:p>
          <a:p>
            <a:pPr algn="l" marL="455975" indent="-227987" lvl="1">
              <a:lnSpc>
                <a:spcPts val="2956"/>
              </a:lnSpc>
              <a:spcBef>
                <a:spcPct val="0"/>
              </a:spcBef>
              <a:buFont typeface="Arial"/>
              <a:buChar char="•"/>
            </a:pP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Dialect Handling: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de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mo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ns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trated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higher accuracy acr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ss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our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dia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ects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(Th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njavur, Coimbator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e,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etc.) than comparative models.</a:t>
            </a:r>
          </a:p>
          <a:p>
            <a:pPr algn="l" marL="455975" indent="-227987" lvl="1">
              <a:lnSpc>
                <a:spcPts val="2956"/>
              </a:lnSpc>
              <a:spcBef>
                <a:spcPct val="0"/>
              </a:spcBef>
              <a:buFont typeface="Arial"/>
              <a:buChar char="•"/>
            </a:pP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Qu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ali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tative Gain: The model si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gni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fica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tly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reduced c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aracter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predi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ns f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 complex Tami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words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ompa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ed to othe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cla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ssifiers</a:t>
            </a:r>
            <a:r>
              <a:rPr lang="en-US" sz="2111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0" indent="0" lvl="0">
              <a:lnSpc>
                <a:spcPts val="295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716170" y="918552"/>
            <a:ext cx="521489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9"/>
              </a:lnSpc>
              <a:spcBef>
                <a:spcPct val="0"/>
              </a:spcBef>
            </a:pPr>
            <a:r>
              <a:rPr lang="en-US" sz="5999">
                <a:solidFill>
                  <a:srgbClr val="372A28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RESULTS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9372" y="3297461"/>
            <a:ext cx="654050" cy="654050"/>
            <a:chOff x="0" y="0"/>
            <a:chExt cx="172260" cy="1722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260" cy="172260"/>
            </a:xfrm>
            <a:custGeom>
              <a:avLst/>
              <a:gdLst/>
              <a:ahLst/>
              <a:cxnLst/>
              <a:rect r="r" b="b" t="t" l="l"/>
              <a:pathLst>
                <a:path h="172260" w="172260">
                  <a:moveTo>
                    <a:pt x="86130" y="0"/>
                  </a:moveTo>
                  <a:lnTo>
                    <a:pt x="86130" y="0"/>
                  </a:lnTo>
                  <a:cubicBezTo>
                    <a:pt x="108973" y="0"/>
                    <a:pt x="130881" y="9074"/>
                    <a:pt x="147033" y="25227"/>
                  </a:cubicBezTo>
                  <a:cubicBezTo>
                    <a:pt x="163186" y="41379"/>
                    <a:pt x="172260" y="63287"/>
                    <a:pt x="172260" y="86130"/>
                  </a:cubicBezTo>
                  <a:lnTo>
                    <a:pt x="172260" y="86130"/>
                  </a:lnTo>
                  <a:cubicBezTo>
                    <a:pt x="172260" y="108973"/>
                    <a:pt x="163186" y="130881"/>
                    <a:pt x="147033" y="147033"/>
                  </a:cubicBezTo>
                  <a:cubicBezTo>
                    <a:pt x="130881" y="163186"/>
                    <a:pt x="108973" y="172260"/>
                    <a:pt x="86130" y="172260"/>
                  </a:cubicBezTo>
                  <a:lnTo>
                    <a:pt x="86130" y="172260"/>
                  </a:lnTo>
                  <a:cubicBezTo>
                    <a:pt x="63287" y="172260"/>
                    <a:pt x="41379" y="163186"/>
                    <a:pt x="25227" y="147033"/>
                  </a:cubicBezTo>
                  <a:cubicBezTo>
                    <a:pt x="9074" y="130881"/>
                    <a:pt x="0" y="108973"/>
                    <a:pt x="0" y="86130"/>
                  </a:cubicBezTo>
                  <a:lnTo>
                    <a:pt x="0" y="86130"/>
                  </a:lnTo>
                  <a:cubicBezTo>
                    <a:pt x="0" y="63287"/>
                    <a:pt x="9074" y="41379"/>
                    <a:pt x="25227" y="25227"/>
                  </a:cubicBezTo>
                  <a:cubicBezTo>
                    <a:pt x="41379" y="9074"/>
                    <a:pt x="63287" y="0"/>
                    <a:pt x="86130" y="0"/>
                  </a:cubicBezTo>
                  <a:close/>
                </a:path>
              </a:pathLst>
            </a:custGeom>
            <a:solidFill>
              <a:srgbClr val="372A2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260" cy="210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2129" y="6520850"/>
            <a:ext cx="654050" cy="654050"/>
            <a:chOff x="0" y="0"/>
            <a:chExt cx="172260" cy="1722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260" cy="172260"/>
            </a:xfrm>
            <a:custGeom>
              <a:avLst/>
              <a:gdLst/>
              <a:ahLst/>
              <a:cxnLst/>
              <a:rect r="r" b="b" t="t" l="l"/>
              <a:pathLst>
                <a:path h="172260" w="172260">
                  <a:moveTo>
                    <a:pt x="86130" y="0"/>
                  </a:moveTo>
                  <a:lnTo>
                    <a:pt x="86130" y="0"/>
                  </a:lnTo>
                  <a:cubicBezTo>
                    <a:pt x="108973" y="0"/>
                    <a:pt x="130881" y="9074"/>
                    <a:pt x="147033" y="25227"/>
                  </a:cubicBezTo>
                  <a:cubicBezTo>
                    <a:pt x="163186" y="41379"/>
                    <a:pt x="172260" y="63287"/>
                    <a:pt x="172260" y="86130"/>
                  </a:cubicBezTo>
                  <a:lnTo>
                    <a:pt x="172260" y="86130"/>
                  </a:lnTo>
                  <a:cubicBezTo>
                    <a:pt x="172260" y="108973"/>
                    <a:pt x="163186" y="130881"/>
                    <a:pt x="147033" y="147033"/>
                  </a:cubicBezTo>
                  <a:cubicBezTo>
                    <a:pt x="130881" y="163186"/>
                    <a:pt x="108973" y="172260"/>
                    <a:pt x="86130" y="172260"/>
                  </a:cubicBezTo>
                  <a:lnTo>
                    <a:pt x="86130" y="172260"/>
                  </a:lnTo>
                  <a:cubicBezTo>
                    <a:pt x="63287" y="172260"/>
                    <a:pt x="41379" y="163186"/>
                    <a:pt x="25227" y="147033"/>
                  </a:cubicBezTo>
                  <a:cubicBezTo>
                    <a:pt x="9074" y="130881"/>
                    <a:pt x="0" y="108973"/>
                    <a:pt x="0" y="86130"/>
                  </a:cubicBezTo>
                  <a:lnTo>
                    <a:pt x="0" y="86130"/>
                  </a:lnTo>
                  <a:cubicBezTo>
                    <a:pt x="0" y="63287"/>
                    <a:pt x="9074" y="41379"/>
                    <a:pt x="25227" y="25227"/>
                  </a:cubicBezTo>
                  <a:cubicBezTo>
                    <a:pt x="41379" y="9074"/>
                    <a:pt x="63287" y="0"/>
                    <a:pt x="86130" y="0"/>
                  </a:cubicBezTo>
                  <a:close/>
                </a:path>
              </a:pathLst>
            </a:custGeom>
            <a:solidFill>
              <a:srgbClr val="372A2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2260" cy="210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26179" y="3488726"/>
            <a:ext cx="10999816" cy="317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6"/>
              </a:lnSpc>
            </a:pPr>
          </a:p>
          <a:p>
            <a:pPr algn="l">
              <a:lnSpc>
                <a:spcPts val="1936"/>
              </a:lnSpc>
            </a:pPr>
          </a:p>
          <a:p>
            <a:pPr algn="l" marL="298651" indent="-149326" lvl="1">
              <a:lnSpc>
                <a:spcPts val="1936"/>
              </a:lnSpc>
              <a:spcBef>
                <a:spcPct val="0"/>
              </a:spcBef>
              <a:buAutoNum type="arabicPeriod" startAt="1"/>
            </a:pPr>
            <a:r>
              <a:rPr lang="en-US" sz="1383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perio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cogn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on Accuracy: The proposed ResNe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two-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tage bottleneck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ar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chit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cture (RTSBA)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achieved a state-of-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e-art text predicti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 acc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racy of 98.7% on the Di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ital Writing Pad-Handwritten (DWP-H) dataset.</a:t>
            </a:r>
          </a:p>
          <a:p>
            <a:pPr algn="l" marL="298651" indent="-149326" lvl="1">
              <a:lnSpc>
                <a:spcPts val="1936"/>
              </a:lnSpc>
              <a:spcBef>
                <a:spcPct val="0"/>
              </a:spcBef>
              <a:buAutoNum type="arabicPeriod" startAt="1"/>
            </a:pP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Effective Handling of Complex Script: 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 incorpora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ion o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Non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oca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(NL)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an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Att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ntion-Gate (AG) block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was effect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ve in capturin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long-ra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ependencies and focusing on critical features,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hus mitigating err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rs caused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b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y th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complex bends and cur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es of the Tam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cript.</a:t>
            </a:r>
          </a:p>
          <a:p>
            <a:pPr algn="l" marL="298651" indent="-149326" lvl="1">
              <a:lnSpc>
                <a:spcPts val="1936"/>
              </a:lnSpc>
              <a:spcBef>
                <a:spcPct val="0"/>
              </a:spcBef>
              <a:buAutoNum type="arabicPeriod" startAt="1"/>
            </a:pP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tperform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nce of Existing Mode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s: RTSBA demonstrated higher performance across 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 metrics (Accurac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Precision, Rec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ll, and F1 Score) com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ared to conventional dee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l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rning mode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s, includ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ing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LSTM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CNN, Incept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-v3, and specialized models like MMU-SNet.</a:t>
            </a:r>
          </a:p>
          <a:p>
            <a:pPr algn="l" marL="298651" indent="-149326" lvl="1">
              <a:lnSpc>
                <a:spcPts val="1936"/>
              </a:lnSpc>
              <a:spcBef>
                <a:spcPct val="0"/>
              </a:spcBef>
              <a:buAutoNum type="arabicPeriod" startAt="1"/>
            </a:pP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bustness Ac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oss Dialects: The model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 a consistently high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super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or accuracy eve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when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sted on va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ying h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ndwri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ng styl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corre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pond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ing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to different 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mil dialects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(e.g., Thanja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ur, M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du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, Coimbator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</a:p>
          <a:p>
            <a:pPr algn="l" marL="298651" indent="-149326" lvl="1">
              <a:lnSpc>
                <a:spcPts val="1936"/>
              </a:lnSpc>
              <a:spcBef>
                <a:spcPct val="0"/>
              </a:spcBef>
              <a:buAutoNum type="arabicPeriod" startAt="1"/>
            </a:pP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Quali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ative Improvement: RTSBA reduced the mispredictions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of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ar-looking charac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ers 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 handwritt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 wor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s, a common fa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lure point for e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rlier models</a:t>
            </a:r>
            <a:r>
              <a:rPr lang="en-US" sz="1383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0" indent="0" lvl="0">
              <a:lnSpc>
                <a:spcPts val="193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226179" y="7084451"/>
            <a:ext cx="9965783" cy="204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8128" indent="-139064" lvl="1">
              <a:lnSpc>
                <a:spcPts val="1803"/>
              </a:lnSpc>
              <a:spcBef>
                <a:spcPct val="0"/>
              </a:spcBef>
              <a:buFont typeface="Arial"/>
              <a:buChar char="•"/>
            </a:pPr>
            <a:r>
              <a:rPr lang="en-US" sz="1288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Extensio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Other Scripts: App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ying th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RTSBA mo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el to other compl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x Indi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anguag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with similar curve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s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rip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ts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, such as Malayalam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lugu, to improve their han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written OCR re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ogni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 f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om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digita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p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ad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s.</a:t>
            </a:r>
          </a:p>
          <a:p>
            <a:pPr algn="l" marL="278128" indent="-139064" lvl="1">
              <a:lnSpc>
                <a:spcPts val="1803"/>
              </a:lnSpc>
              <a:spcBef>
                <a:spcPct val="0"/>
              </a:spcBef>
              <a:buFont typeface="Arial"/>
              <a:buChar char="•"/>
            </a:pP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Semi-Supervised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Learnin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(SSL): Enhanc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ng the mo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l's training metho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ology by implementing SSL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to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imp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ove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predicti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 accuracy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urth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er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, especially when deal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ing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with limite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lab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d data.</a:t>
            </a:r>
          </a:p>
          <a:p>
            <a:pPr algn="l" marL="278128" indent="-139064" lvl="1">
              <a:lnSpc>
                <a:spcPts val="1803"/>
              </a:lnSpc>
              <a:spcBef>
                <a:spcPct val="0"/>
              </a:spcBef>
              <a:buFont typeface="Arial"/>
              <a:buChar char="•"/>
            </a:pP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timization of Paramet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er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s: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Focus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 on optim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zin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 hyperparame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er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ernal variables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RTSBA stru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ture 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achieve even greater accuracy and computationa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fficien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y.</a:t>
            </a:r>
          </a:p>
          <a:p>
            <a:pPr algn="l" marL="278128" indent="-139064" lvl="1">
              <a:lnSpc>
                <a:spcPts val="1803"/>
              </a:lnSpc>
              <a:spcBef>
                <a:spcPct val="0"/>
              </a:spcBef>
              <a:buFont typeface="Arial"/>
              <a:buChar char="•"/>
            </a:pP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Mul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-Language OCR: Devel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pi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g the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rchitecture 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u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ified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yst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 capable of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ecogniz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ing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handwr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it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ten text f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om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multiple complex lang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ag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es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 s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multa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eou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ly</a:t>
            </a:r>
            <a:r>
              <a:rPr lang="en-US" sz="1288" strike="noStrike" u="none">
                <a:solidFill>
                  <a:srgbClr val="61606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0" indent="0" lvl="0">
              <a:lnSpc>
                <a:spcPts val="180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455841" y="3392208"/>
            <a:ext cx="633291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Key Findings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55841" y="6612924"/>
            <a:ext cx="56365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Future Enhancemnet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3858" y="3329713"/>
            <a:ext cx="599563" cy="48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9372" y="6505401"/>
            <a:ext cx="599563" cy="48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6550" y="1135286"/>
            <a:ext cx="15494900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sz="5999">
                <a:solidFill>
                  <a:srgbClr val="372A28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Key Findings and Future Enhancement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047750" y="1070952"/>
            <a:ext cx="0" cy="8168298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47750" y="9239250"/>
            <a:ext cx="16211550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028700" y="1070952"/>
            <a:ext cx="16230600" cy="0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7259300" y="1055047"/>
            <a:ext cx="0" cy="8184203"/>
          </a:xfrm>
          <a:prstGeom prst="line">
            <a:avLst/>
          </a:prstGeom>
          <a:ln cap="flat" w="38100">
            <a:solidFill>
              <a:srgbClr val="372A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true" rot="0">
            <a:off x="15906150" y="7637184"/>
            <a:ext cx="1115223" cy="1381470"/>
          </a:xfrm>
          <a:custGeom>
            <a:avLst/>
            <a:gdLst/>
            <a:ahLst/>
            <a:cxnLst/>
            <a:rect r="r" b="b" t="t" l="l"/>
            <a:pathLst>
              <a:path h="1381470" w="1115223">
                <a:moveTo>
                  <a:pt x="0" y="1381470"/>
                </a:moveTo>
                <a:lnTo>
                  <a:pt x="1115224" y="1381470"/>
                </a:lnTo>
                <a:lnTo>
                  <a:pt x="1115224" y="0"/>
                </a:lnTo>
                <a:lnTo>
                  <a:pt x="0" y="0"/>
                </a:lnTo>
                <a:lnTo>
                  <a:pt x="0" y="13814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20641" y="3521620"/>
            <a:ext cx="11665769" cy="2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38"/>
              </a:lnSpc>
            </a:pPr>
            <a:r>
              <a:rPr lang="en-US" sz="13615">
                <a:solidFill>
                  <a:srgbClr val="ECC18D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 flipH="true">
            <a:off x="1047750" y="1070952"/>
            <a:ext cx="0" cy="8168298"/>
          </a:xfrm>
          <a:prstGeom prst="line">
            <a:avLst/>
          </a:prstGeom>
          <a:ln cap="flat" w="38100">
            <a:solidFill>
              <a:srgbClr val="ECC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028700" y="9239250"/>
            <a:ext cx="16230600" cy="0"/>
          </a:xfrm>
          <a:prstGeom prst="line">
            <a:avLst/>
          </a:prstGeom>
          <a:ln cap="flat" w="38100">
            <a:solidFill>
              <a:srgbClr val="ECC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028700" y="1070952"/>
            <a:ext cx="16230600" cy="0"/>
          </a:xfrm>
          <a:prstGeom prst="line">
            <a:avLst/>
          </a:prstGeom>
          <a:ln cap="flat" w="38100">
            <a:solidFill>
              <a:srgbClr val="ECC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7259300" y="1055047"/>
            <a:ext cx="0" cy="8184203"/>
          </a:xfrm>
          <a:prstGeom prst="line">
            <a:avLst/>
          </a:prstGeom>
          <a:ln cap="flat" w="38100">
            <a:solidFill>
              <a:srgbClr val="ECC1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true" flipV="true" rot="0">
            <a:off x="1214645" y="7717142"/>
            <a:ext cx="1115223" cy="1381470"/>
          </a:xfrm>
          <a:custGeom>
            <a:avLst/>
            <a:gdLst/>
            <a:ahLst/>
            <a:cxnLst/>
            <a:rect r="r" b="b" t="t" l="l"/>
            <a:pathLst>
              <a:path h="1381470" w="1115223">
                <a:moveTo>
                  <a:pt x="1115223" y="1381470"/>
                </a:moveTo>
                <a:lnTo>
                  <a:pt x="0" y="1381470"/>
                </a:lnTo>
                <a:lnTo>
                  <a:pt x="0" y="0"/>
                </a:lnTo>
                <a:lnTo>
                  <a:pt x="1115223" y="0"/>
                </a:lnTo>
                <a:lnTo>
                  <a:pt x="1115223" y="138147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14463" y="1237115"/>
            <a:ext cx="944837" cy="1170406"/>
          </a:xfrm>
          <a:custGeom>
            <a:avLst/>
            <a:gdLst/>
            <a:ahLst/>
            <a:cxnLst/>
            <a:rect r="r" b="b" t="t" l="l"/>
            <a:pathLst>
              <a:path h="1170406" w="944837">
                <a:moveTo>
                  <a:pt x="0" y="0"/>
                </a:moveTo>
                <a:lnTo>
                  <a:pt x="944837" y="0"/>
                </a:lnTo>
                <a:lnTo>
                  <a:pt x="944837" y="1170406"/>
                </a:lnTo>
                <a:lnTo>
                  <a:pt x="0" y="1170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DAG4lEvRbu8</dc:identifier>
  <dcterms:modified xsi:type="dcterms:W3CDTF">2011-08-01T06:04:30Z</dcterms:modified>
  <cp:revision>1</cp:revision>
  <dc:title>TAMIL</dc:title>
</cp:coreProperties>
</file>